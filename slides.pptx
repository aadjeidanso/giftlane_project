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0" y="0"/>
            <a:ext cx="12227975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4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0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73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9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1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1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03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773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23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61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04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38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76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354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286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431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369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4848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2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2" y="0"/>
            <a:ext cx="12226777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4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09290"/>
            <a:ext cx="11247120" cy="914400"/>
          </a:xfrm>
        </p:spPr>
        <p:txBody>
          <a:bodyPr>
            <a:normAutofit/>
          </a:bodyPr>
          <a:lstStyle/>
          <a:p>
            <a:pPr>
              <a:defRPr sz="3000"/>
            </a:pPr>
            <a:r>
              <a:rPr b="1" u="sng" dirty="0"/>
              <a:t>Customers Like You: recommendations and customer </a:t>
            </a:r>
            <a:r>
              <a:rPr b="1" u="sng" dirty="0" smtClean="0"/>
              <a:t>groups</a:t>
            </a: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sz="2200" b="1" u="sng" dirty="0" smtClean="0"/>
              <a:t>Emmanuel </a:t>
            </a:r>
            <a:r>
              <a:rPr lang="en-US" sz="2200" b="1" u="sng" dirty="0" err="1" smtClean="0"/>
              <a:t>Adjei</a:t>
            </a:r>
            <a:r>
              <a:rPr lang="en-US" sz="2200" b="1" u="sng" dirty="0" smtClean="0"/>
              <a:t> </a:t>
            </a:r>
            <a:r>
              <a:rPr lang="en-US" sz="2200" b="1" u="sng" dirty="0" err="1" smtClean="0"/>
              <a:t>Danso</a:t>
            </a:r>
            <a:endParaRPr sz="22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772926" y="2380890"/>
            <a:ext cx="10786470" cy="394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900"/>
              </a:spcAft>
              <a:defRPr sz="1900"/>
            </a:pPr>
            <a:r>
              <a:rPr dirty="0"/>
              <a:t>• </a:t>
            </a:r>
            <a:r>
              <a:rPr dirty="0" err="1" smtClean="0"/>
              <a:t>GiftLane</a:t>
            </a:r>
            <a:r>
              <a:rPr dirty="0" smtClean="0"/>
              <a:t> </a:t>
            </a:r>
            <a:r>
              <a:rPr dirty="0"/>
              <a:t>Online Retail II data (1.07M order lines, Dec 2009 - Dec 2011)</a:t>
            </a:r>
          </a:p>
          <a:p>
            <a:pPr>
              <a:lnSpc>
                <a:spcPct val="200000"/>
              </a:lnSpc>
              <a:spcAft>
                <a:spcPts val="900"/>
              </a:spcAft>
              <a:defRPr sz="1900"/>
            </a:pPr>
            <a:r>
              <a:rPr dirty="0"/>
              <a:t>• Request: shrink the "also bought" job so it runs nightly, beat best sellers, and give Marketing named customer groups</a:t>
            </a:r>
          </a:p>
          <a:p>
            <a:pPr>
              <a:lnSpc>
                <a:spcPct val="200000"/>
              </a:lnSpc>
              <a:spcAft>
                <a:spcPts val="900"/>
              </a:spcAft>
              <a:defRPr sz="1900"/>
            </a:pPr>
            <a:r>
              <a:rPr dirty="0"/>
              <a:t>• Targets set on Day 1: much smaller data | fast job | beat best-seller baseline on unseen purchases | nameable groups</a:t>
            </a:r>
          </a:p>
          <a:p>
            <a:pPr>
              <a:lnSpc>
                <a:spcPct val="200000"/>
              </a:lnSpc>
              <a:spcAft>
                <a:spcPts val="900"/>
              </a:spcAft>
              <a:defRPr sz="1900"/>
            </a:pPr>
            <a:r>
              <a:rPr dirty="0"/>
              <a:t>• Solo project: both roles (Data Engineer + ML Engineer)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3996"/>
            <a:ext cx="11247120" cy="914400"/>
          </a:xfrm>
        </p:spPr>
        <p:txBody>
          <a:bodyPr/>
          <a:lstStyle/>
          <a:p>
            <a:pPr>
              <a:defRPr sz="3000"/>
            </a:pPr>
            <a:r>
              <a:rPr b="1" u="sng" dirty="0"/>
              <a:t>Data Engineer: from raw log to a leak-free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6763" y="2915728"/>
            <a:ext cx="1078301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sz="2000" dirty="0"/>
              <a:t>• 1,067,371 raw lines -&gt; 802,632 after cleaning (cancellations, quantity/price &lt;= 0, non-product codes, no customer ID; each rule logged)</a:t>
            </a:r>
          </a:p>
          <a:p>
            <a:pPr>
              <a:spcAft>
                <a:spcPts val="900"/>
              </a:spcAft>
              <a:defRPr sz="1900"/>
            </a:pPr>
            <a:r>
              <a:rPr sz="2000" dirty="0"/>
              <a:t>• Time split: train before 2011-10-09, test = last 2 months. Held-out = products the customer never bought in training</a:t>
            </a:r>
          </a:p>
          <a:p>
            <a:pPr>
              <a:spcAft>
                <a:spcPts val="900"/>
              </a:spcAft>
              <a:defRPr sz="1900"/>
            </a:pPr>
            <a:r>
              <a:rPr sz="2000" dirty="0"/>
              <a:t>• Matrix 5,471 customers x 3,686 products (kept products bought by &gt;= 10 customers), value = log(1 + units)</a:t>
            </a:r>
          </a:p>
          <a:p>
            <a:pPr>
              <a:spcAft>
                <a:spcPts val="900"/>
              </a:spcAft>
              <a:defRPr sz="1900"/>
            </a:pPr>
            <a:r>
              <a:rPr sz="2000" dirty="0"/>
              <a:t>• 97.95% empty: 161.3 MB dense vs 4.99 MB sparse</a:t>
            </a:r>
          </a:p>
          <a:p>
            <a:pPr>
              <a:spcAft>
                <a:spcPts val="900"/>
              </a:spcAft>
              <a:defRPr sz="1900"/>
            </a:pPr>
            <a:r>
              <a:rPr sz="2000" dirty="0"/>
              <a:t>• One command rebuilds everything: python build_matrix.py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332"/>
            <a:ext cx="11247120" cy="914400"/>
          </a:xfrm>
        </p:spPr>
        <p:txBody>
          <a:bodyPr/>
          <a:lstStyle/>
          <a:p>
            <a:pPr>
              <a:defRPr sz="3000"/>
            </a:pPr>
            <a:r>
              <a:rPr b="1" u="sng" dirty="0"/>
              <a:t>ML Engineer: SVD or PCA?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938" y="1414732"/>
            <a:ext cx="536908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dirty="0"/>
              <a:t>• SVD chosen for sparse purchases and direct product factors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dirty="0">
                <a:solidFill>
                  <a:srgbClr val="FF0000"/>
                </a:solidFill>
              </a:rPr>
              <a:t>• k = 100, alpha = 3: selected on earlier validation data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dirty="0"/>
              <a:t>• Same-k hybrid hit rate: PCA 36.4%, SVD 36.6%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dirty="0">
                <a:solidFill>
                  <a:srgbClr val="FF0000"/>
                </a:solidFill>
              </a:rPr>
              <a:t>• Both first components track log purchase activity (PCA r = 0.97)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dirty="0"/>
              <a:t>• Calculated storage: 7.33 MB factors, 161 MB dense, 4.99 MB sparse</a:t>
            </a:r>
          </a:p>
        </p:txBody>
      </p:sp>
      <p:pic>
        <p:nvPicPr>
          <p:cNvPr id="4" name="Picture 3" descr="k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018" y="1587260"/>
            <a:ext cx="5322499" cy="34764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548640"/>
            <a:ext cx="11247120" cy="914400"/>
          </a:xfrm>
        </p:spPr>
        <p:txBody>
          <a:bodyPr/>
          <a:lstStyle/>
          <a:p>
            <a:pPr>
              <a:defRPr sz="3000"/>
            </a:pPr>
            <a:r>
              <a:rPr b="1" u="sng" dirty="0"/>
              <a:t>Customer recommendations: held-out hit rate @10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526998"/>
              </p:ext>
            </p:extLst>
          </p:nvPr>
        </p:nvGraphicFramePr>
        <p:xfrm>
          <a:off x="594360" y="1463040"/>
          <a:ext cx="10972800" cy="2755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Hit rate 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Best sellers (distinct training buyers)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+/-2.0 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SVD factors alone (k=100)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loses to best sellers (honest result)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SVD + popularity nudge (alpha=3)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+/-2.2 pts: beats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277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PCA + popularity nudge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similar to SVD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No compression, item similarity 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compression costs precision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Timed model stage: 0.74 s for fit, all product similarities and scoring 1,913 test customers. Excludes preprocessing and saving. Product-page suggestions use similarity alone and are not directly evaluated by this customer metric.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81" y="511894"/>
            <a:ext cx="11247120" cy="914400"/>
          </a:xfrm>
        </p:spPr>
        <p:txBody>
          <a:bodyPr/>
          <a:lstStyle/>
          <a:p>
            <a:pPr>
              <a:defRPr sz="3000"/>
            </a:pPr>
            <a:r>
              <a:rPr b="1" u="sng" dirty="0"/>
              <a:t>Customer map: 3 groups Marketing can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480988"/>
            <a:ext cx="5120640" cy="421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sz="1600" dirty="0"/>
              <a:t>• Mixed gifts and baking shops (46%): Vintage Snap Cards, Retrospot Tea Set Ceramic 11 Pc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sz="1600" dirty="0"/>
              <a:t>• Heart and home-decor shops (30%): Heart Ivory Trellis Large, Wooden Frame Antique White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sz="1600" dirty="0"/>
              <a:t>• Jumbo-bag buyers (24%): Jumbo Bag Apples, Jumbo Bag Spaceboy Design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sz="1600" dirty="0"/>
              <a:t>• Project to 2 components, then cluster the same 2-D points (3-6 groups tried)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900"/>
            </a:pPr>
            <a:r>
              <a:rPr sz="1600" dirty="0"/>
              <a:t>• UK buyers: 85-97% in each group; use products to plan campaigns</a:t>
            </a:r>
          </a:p>
        </p:txBody>
      </p:sp>
      <p:pic>
        <p:nvPicPr>
          <p:cNvPr id="4" name="Picture 3" descr="custome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050" y="1371600"/>
            <a:ext cx="5413939" cy="4095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188720"/>
            <a:ext cx="11247120" cy="914400"/>
          </a:xfrm>
        </p:spPr>
        <p:txBody>
          <a:bodyPr/>
          <a:lstStyle/>
          <a:p>
            <a:pPr>
              <a:defRPr sz="3000"/>
            </a:pPr>
            <a:r>
              <a:rPr b="1" u="sng" dirty="0"/>
              <a:t>Risks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825" y="2898475"/>
            <a:ext cx="11247120" cy="2695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900"/>
              </a:spcAft>
              <a:defRPr sz="1900"/>
            </a:pPr>
            <a:r>
              <a:rPr dirty="0"/>
              <a:t>• Held-out purchases undercount good suggestions; run an A/B test on live pages</a:t>
            </a:r>
          </a:p>
          <a:p>
            <a:pPr>
              <a:lnSpc>
                <a:spcPct val="200000"/>
              </a:lnSpc>
              <a:spcAft>
                <a:spcPts val="900"/>
              </a:spcAft>
              <a:defRPr sz="1900"/>
            </a:pPr>
            <a:r>
              <a:rPr dirty="0"/>
              <a:t>• Add a best-seller fallback for new customers/products; monitor recommendation quality</a:t>
            </a:r>
          </a:p>
          <a:p>
            <a:pPr>
              <a:lnSpc>
                <a:spcPct val="200000"/>
              </a:lnSpc>
              <a:spcAft>
                <a:spcPts val="900"/>
              </a:spcAft>
              <a:defRPr sz="1900"/>
            </a:pPr>
            <a:r>
              <a:rPr dirty="0"/>
              <a:t>• Value choice matters: raw counts hurt (hit rate drops to 26%); log or 1/0 are good</a:t>
            </a:r>
          </a:p>
          <a:p>
            <a:pPr>
              <a:lnSpc>
                <a:spcPct val="200000"/>
              </a:lnSpc>
              <a:spcAft>
                <a:spcPts val="900"/>
              </a:spcAft>
              <a:defRPr sz="1900"/>
            </a:pPr>
            <a:r>
              <a:rPr dirty="0"/>
              <a:t>• Next: stock/price filters, recency weighting, one campaign per group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</TotalTime>
  <Words>527</Words>
  <Application>Microsoft Office PowerPoint</Application>
  <PresentationFormat>Custom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Garamond</vt:lpstr>
      <vt:lpstr>Organic</vt:lpstr>
      <vt:lpstr>Customers Like You: recommendations and customer groups Emmanuel Adjei Danso</vt:lpstr>
      <vt:lpstr>Data Engineer: from raw log to a leak-free matrix</vt:lpstr>
      <vt:lpstr>ML Engineer: SVD or PCA?</vt:lpstr>
      <vt:lpstr>Customer recommendations: held-out hit rate @10</vt:lpstr>
      <vt:lpstr>Customer map: 3 groups Marketing can name</vt:lpstr>
      <vt:lpstr>Risks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Customers Like You: recommendations and customer groups Emmanuel Adjei Danso</dc:title>
  <dc:subject/>
  <dc:creator/>
  <cp:keywords/>
  <dc:description>generated using python-pptx</dc:description>
  <cp:lastModifiedBy>Kofi</cp:lastModifiedBy>
  <cp:revision>3</cp:revision>
  <dcterms:created xsi:type="dcterms:W3CDTF">2013-01-27T09:14:16Z</dcterms:created>
  <dcterms:modified xsi:type="dcterms:W3CDTF">2026-10-14T02:05:50Z</dcterms:modified>
  <cp:category/>
</cp:coreProperties>
</file>